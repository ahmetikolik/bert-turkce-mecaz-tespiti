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Deyim</c:v>
                </c:pt>
              </c:strCache>
            </c:strRef>
          </c:tx>
          <c:spPr>
            <a:solidFill>
              <a:srgbClr val="E0930A"/>
            </a:solidFill>
            <a:ln w="38100" cap="flat">
              <a:solidFill>
                <a:srgbClr val="E093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930A"/>
              </a:solidFill>
              <a:ln w="9525" cap="flat">
                <a:solidFill>
                  <a:srgbClr val="E093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R0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0.818</c:v>
                </c:pt>
                <c:pt idx="1">
                  <c:v>0.87</c:v>
                </c:pt>
                <c:pt idx="2">
                  <c:v>0.971</c:v>
                </c:pt>
                <c:pt idx="3">
                  <c:v>0.971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Abartı</c:v>
                </c:pt>
              </c:strCache>
            </c:strRef>
          </c:tx>
          <c:spPr>
            <a:solidFill>
              <a:srgbClr val="DF6446"/>
            </a:solidFill>
            <a:ln w="38100" cap="flat">
              <a:solidFill>
                <a:srgbClr val="DF64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F6446"/>
              </a:solidFill>
              <a:ln w="9525" cap="flat">
                <a:solidFill>
                  <a:srgbClr val="DF64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R0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0.627</c:v>
                </c:pt>
                <c:pt idx="1">
                  <c:v>0.87</c:v>
                </c:pt>
                <c:pt idx="2">
                  <c:v>0.87</c:v>
                </c:pt>
                <c:pt idx="3">
                  <c:v>0.899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Mecaz</c:v>
                </c:pt>
              </c:strCache>
            </c:strRef>
          </c:tx>
          <c:spPr>
            <a:solidFill>
              <a:srgbClr val="2390B0"/>
            </a:solidFill>
            <a:ln w="38100" cap="flat">
              <a:solidFill>
                <a:srgbClr val="2390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390B0"/>
              </a:solidFill>
              <a:ln w="9525" cap="flat">
                <a:solidFill>
                  <a:srgbClr val="2390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R0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0.579</c:v>
                </c:pt>
                <c:pt idx="1">
                  <c:v>0.468</c:v>
                </c:pt>
                <c:pt idx="2">
                  <c:v>0.538</c:v>
                </c:pt>
                <c:pt idx="3">
                  <c:v>0.528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Makro Ort.</c:v>
                </c:pt>
              </c:strCache>
            </c:strRef>
          </c:tx>
          <c:spPr>
            <a:solidFill>
              <a:srgbClr val="2B3A4A"/>
            </a:solidFill>
            <a:ln w="38100" cap="flat">
              <a:solidFill>
                <a:srgbClr val="2B3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3A4A"/>
              </a:solidFill>
              <a:ln w="9525" cap="flat">
                <a:solidFill>
                  <a:srgbClr val="2B3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R0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0.675</c:v>
                </c:pt>
                <c:pt idx="1">
                  <c:v>0.736</c:v>
                </c:pt>
                <c:pt idx="2">
                  <c:v>0.793</c:v>
                </c:pt>
                <c:pt idx="3">
                  <c:v>0.799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6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163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3258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Türkçe Metinlerde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Deyim, Mecaz ve Abartı Tespiti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veri kümesinin gelişim hikâyesi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0312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390B0"/>
          </a:solidFill>
          <a:ln/>
        </p:spPr>
      </p:sp>
      <p:sp>
        <p:nvSpPr>
          <p:cNvPr id="9" name="Text 6"/>
          <p:cNvSpPr/>
          <p:nvPr/>
        </p:nvSpPr>
        <p:spPr>
          <a:xfrm>
            <a:off x="210312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F6446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Abartı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4251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Enes Çetin   ·   Ahmet Yıldırım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Dr. Himmet Toprak Kesgin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Teknik Üniversitesi · Bilgisayar Mühendisliği ·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küçük bir soru…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 haberi duyunca küplere bindi.”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46888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E7F4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“Çok öfkelendi”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anında anlar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246888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BECE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“Bir küpe mi bindi?”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şaşırır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projenin çözmeye çalıştığı boşluk.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söz sanatı, üç farklı dünya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560320" cy="3017520"/>
          </a:xfrm>
          <a:prstGeom prst="roundRect">
            <a:avLst>
              <a:gd name="adj" fmla="val 3214"/>
            </a:avLst>
          </a:prstGeom>
          <a:solidFill>
            <a:srgbClr val="FBF1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DEYİM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9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“küplere bindi”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3154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öfkelendi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82696" y="1325880"/>
            <a:ext cx="2560320" cy="3017520"/>
          </a:xfrm>
          <a:prstGeom prst="roundRect">
            <a:avLst>
              <a:gd name="adj" fmla="val 3214"/>
            </a:avLst>
          </a:prstGeom>
          <a:solidFill>
            <a:srgbClr val="E6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160020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2390B0"/>
          </a:solidFill>
          <a:ln/>
        </p:spPr>
      </p:sp>
      <p:sp>
        <p:nvSpPr>
          <p:cNvPr id="11" name="Text 8"/>
          <p:cNvSpPr/>
          <p:nvPr/>
        </p:nvSpPr>
        <p:spPr>
          <a:xfrm>
            <a:off x="3602736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65576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9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“kalbi taş”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3154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65576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acımasız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062472" y="1325880"/>
            <a:ext cx="2560320" cy="3017520"/>
          </a:xfrm>
          <a:prstGeom prst="roundRect">
            <a:avLst>
              <a:gd name="adj" fmla="val 3214"/>
            </a:avLst>
          </a:prstGeom>
          <a:solidFill>
            <a:srgbClr val="FAEAE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160020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DF6446"/>
          </a:solidFill>
          <a:ln/>
        </p:spPr>
      </p:sp>
      <p:sp>
        <p:nvSpPr>
          <p:cNvPr id="17" name="Text 13"/>
          <p:cNvSpPr/>
          <p:nvPr/>
        </p:nvSpPr>
        <p:spPr>
          <a:xfrm>
            <a:off x="6382512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ABARTI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245352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F6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“bin kere aradım”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1546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45352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fazla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nokta: kelimeler sözlük anlamında değil. Ama her biri farklı davranacak — bunu akılda tutun.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makine için zor?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BECE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3619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36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anlamı işe yaramaz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6012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“küplere bindi” = bir küpe binmek? Anlamsız.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00600" y="1325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E7F4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361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536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 bağlamda gizli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02920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Kelimenin solu + sağı birlikte değerlendirilmeli.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3200400"/>
            <a:ext cx="76809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05840" y="3456432"/>
            <a:ext cx="713232" cy="713232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3634740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331012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Üstüne bir de Türkçe… </a:t>
            </a:r>
            <a:pPr indent="0" marL="0"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Sondan eklemeli yapı: tek kök onlarca ek alıp anlam değiştirir. Bu da işi İngilizceye göre çok daha zor yapar.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Hedefimiz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 sanatını bul — ve tam olarak hangi kelimeler olduğunu işaretle.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GİRDİ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haberi duyunca küplere bindi.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2286000"/>
            <a:ext cx="685800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492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2331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haberi duyunca </a:t>
            </a:r>
            <a:pPr algn="ctr" indent="0" marL="0">
              <a:buNone/>
            </a:pPr>
            <a:r>
              <a:rPr lang="en-US" sz="1500" b="1" dirty="0">
                <a:solidFill>
                  <a:srgbClr val="E0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küplere bindi</a:t>
            </a:r>
            <a:pPr algn="ctr" indent="0" marL="0"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89320" y="285292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8529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DEYİM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Cümle düzeyinde “var/yok” değil — kelime düzeyinde tam konum.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Fikir: bunu bir “etiketleme” oyununa çevir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kelimeye bir etiket — buna BIO şeması denir (NER tekniği).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4944" y="1691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BF1DF"/>
          </a:solidFill>
          <a:ln w="19050">
            <a:solidFill>
              <a:srgbClr val="E093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Ayağını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23544" y="2606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7" name="Text 5"/>
          <p:cNvSpPr/>
          <p:nvPr/>
        </p:nvSpPr>
        <p:spPr>
          <a:xfrm>
            <a:off x="923544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B-DEYİM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67712" y="1691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BF1DF"/>
          </a:solidFill>
          <a:ln w="19050">
            <a:solidFill>
              <a:srgbClr val="E093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96312" y="2606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I-DEYİM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691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BF1DF"/>
          </a:solidFill>
          <a:ln w="19050">
            <a:solidFill>
              <a:srgbClr val="E09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9080" y="2606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I-DEYİM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13248" y="1691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905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yoksa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41848" y="2606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AEB9C4"/>
          </a:solidFill>
          <a:ln/>
        </p:spPr>
      </p:sp>
      <p:sp>
        <p:nvSpPr>
          <p:cNvPr id="19" name="Text 17"/>
          <p:cNvSpPr/>
          <p:nvPr/>
        </p:nvSpPr>
        <p:spPr>
          <a:xfrm>
            <a:off x="5641848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86016" y="1691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9050">
            <a:solidFill>
              <a:srgbClr val="D7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düşersin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14616" y="2606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AEB9C4"/>
          </a:solidFill>
          <a:ln/>
        </p:spPr>
      </p:sp>
      <p:sp>
        <p:nvSpPr>
          <p:cNvPr id="23" name="Text 21"/>
          <p:cNvSpPr/>
          <p:nvPr/>
        </p:nvSpPr>
        <p:spPr>
          <a:xfrm>
            <a:off x="7214616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3383280"/>
            <a:ext cx="329184" cy="329184"/>
          </a:xfrm>
          <a:prstGeom prst="ellipse">
            <a:avLst/>
          </a:prstGeom>
          <a:solidFill>
            <a:srgbClr val="E0930A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33558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— ilk kelime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28800" y="3840480"/>
            <a:ext cx="329184" cy="329184"/>
          </a:xfrm>
          <a:prstGeom prst="ellipse">
            <a:avLst/>
          </a:prstGeom>
          <a:solidFill>
            <a:srgbClr val="E0930A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38130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— devam kelimeleri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28800" y="4297680"/>
            <a:ext cx="329184" cy="329184"/>
          </a:xfrm>
          <a:prstGeom prst="ellipse">
            <a:avLst/>
          </a:prstGeom>
          <a:solidFill>
            <a:srgbClr val="AEB9C4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42702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Dışarı — normal kelime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Aracımız: BERTurk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Türkçeye özel, hazır bir dil modeli. Sıfırdan değil — üstüne “ince ayar” yapıyoruz.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88620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4832"/>
            <a:ext cx="621792" cy="621792"/>
          </a:xfrm>
          <a:prstGeom prst="ellipse">
            <a:avLst/>
          </a:prstGeom>
          <a:solidFill>
            <a:srgbClr val="2390B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402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110M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600200" y="24597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388620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084832"/>
            <a:ext cx="621792" cy="621792"/>
          </a:xfrm>
          <a:prstGeom prst="ellipse">
            <a:avLst/>
          </a:prstGeom>
          <a:solidFill>
            <a:srgbClr val="E0930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2402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GB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5760720" y="24597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metinle eğitildi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388620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02152"/>
            <a:ext cx="621792" cy="621792"/>
          </a:xfrm>
          <a:prstGeom prst="ellipse">
            <a:avLst/>
          </a:prstGeom>
          <a:solidFill>
            <a:srgbClr val="DF644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5760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Çift yönlü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1600200" y="38770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+ sağ bağlama bakar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388620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502152"/>
            <a:ext cx="621792" cy="621792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65760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5760720" y="38770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(ince ayar)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karar: tek model mi, üç model mi?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03320" cy="2743200"/>
          </a:xfrm>
          <a:prstGeom prst="roundRect">
            <a:avLst>
              <a:gd name="adj" fmla="val 3000"/>
            </a:avLst>
          </a:prstGeom>
          <a:solidFill>
            <a:srgbClr val="FBECE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model (7 sınıf)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sanatı aynı anda ayırmaya çalışır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Sınıflar arası “çekişme” olur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Hiçbirini tam öğrenemez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267462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371600"/>
            <a:ext cx="3703320" cy="2743200"/>
          </a:xfrm>
          <a:prstGeom prst="roundRect">
            <a:avLst>
              <a:gd name="adj" fmla="val 3000"/>
            </a:avLst>
          </a:prstGeom>
          <a:solidFill>
            <a:srgbClr val="E7F4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554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uzman model  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0" y="2148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model tek bir kavrama odaklanır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keskin kararlar verir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Tahminler sonda birleştirilir (max_score)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Seçimimiz: üç ayrı uzman model.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Perde: önce her şeyi elle etiketledik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1.864 cümle — ama dengesiz. İşte ilk sorunun tohumu burada.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673352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E0930A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16733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1.173 cümle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0" y="2514600"/>
            <a:ext cx="1819446" cy="420624"/>
          </a:xfrm>
          <a:prstGeom prst="roundRect">
            <a:avLst>
              <a:gd name="adj" fmla="val 13043"/>
            </a:avLst>
          </a:prstGeom>
          <a:solidFill>
            <a:srgbClr val="DF6446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2514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 cümle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355848"/>
            <a:ext cx="1412526" cy="420624"/>
          </a:xfrm>
          <a:prstGeom prst="roundRect">
            <a:avLst>
              <a:gd name="adj" fmla="val 13043"/>
            </a:avLst>
          </a:prstGeom>
          <a:solidFill>
            <a:srgbClr val="2390B0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3355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cümle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Deyimde bol veri var, mecazda kıt. Bakalım bu başarıya nasıl yansıyacak…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sonuç (R0): duvara çarptık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manuel veriyle test başarısı (F1).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45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9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 veri → iyi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82696" y="141732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77056" y="1645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6446"/>
          </a:solidFill>
          <a:ln/>
        </p:spPr>
      </p:sp>
      <p:sp>
        <p:nvSpPr>
          <p:cNvPr id="11" name="Text 9"/>
          <p:cNvSpPr/>
          <p:nvPr/>
        </p:nvSpPr>
        <p:spPr>
          <a:xfrm>
            <a:off x="3877056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82696" y="2194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F6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19856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veri → zayıf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62472" y="141732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1645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390B0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62472" y="2194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9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99632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veri → en zayıf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Örüntü çok net: veri ne kadar azsa başarı o kadar düşük. Daha çok veri lazım — ama elle etiketleme çok yavaş.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Perde: ya veriyi kendimiz üretsek?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tabanlı sentetik üretim — saniyede binlerce etiketli cümle.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Figüratif çekirdek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9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“küplere bindi”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7830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150876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E6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0624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özne / bağlam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947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· Çocuk · bir anda…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60604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" y="3108960"/>
            <a:ext cx="5486400" cy="420624"/>
          </a:xfrm>
          <a:prstGeom prst="roundRect">
            <a:avLst>
              <a:gd name="adj" fmla="val 15217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310896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duyunca </a:t>
            </a:r>
            <a:pPr indent="0" marL="0">
              <a:buNone/>
            </a:pPr>
            <a:r>
              <a:rPr lang="en-US" sz="1350" b="1" dirty="0">
                <a:solidFill>
                  <a:srgbClr val="E0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küplere bindi</a:t>
            </a:r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" y="3611880"/>
            <a:ext cx="5486400" cy="420624"/>
          </a:xfrm>
          <a:prstGeom prst="roundRect">
            <a:avLst>
              <a:gd name="adj" fmla="val 15217"/>
            </a:avLst>
          </a:prstGeom>
          <a:solidFill>
            <a:srgbClr val="F1F5F9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361188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 bir anda </a:t>
            </a:r>
            <a:pPr indent="0" marL="0">
              <a:buNone/>
            </a:pPr>
            <a:r>
              <a:rPr lang="en-US" sz="1350" b="1" dirty="0">
                <a:solidFill>
                  <a:srgbClr val="E0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küplere bindi</a:t>
            </a:r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31520" y="4114800"/>
            <a:ext cx="5486400" cy="420624"/>
          </a:xfrm>
          <a:prstGeom prst="roundRect">
            <a:avLst>
              <a:gd name="adj" fmla="val 15217"/>
            </a:avLst>
          </a:prstGeom>
          <a:solidFill>
            <a:srgbClr val="F1F5F9"/>
          </a:solidFill>
          <a:ln/>
        </p:spPr>
      </p:sp>
      <p:sp>
        <p:nvSpPr>
          <p:cNvPr id="17" name="Text 13"/>
          <p:cNvSpPr/>
          <p:nvPr/>
        </p:nvSpPr>
        <p:spPr>
          <a:xfrm>
            <a:off x="960120" y="411480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Haberi alınca resmen </a:t>
            </a:r>
            <a:pPr indent="0" marL="0">
              <a:buNone/>
            </a:pPr>
            <a:r>
              <a:rPr lang="en-US" sz="1350" b="1" dirty="0">
                <a:solidFill>
                  <a:srgbClr val="E0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küplere bindi</a:t>
            </a:r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37960" y="3108960"/>
            <a:ext cx="2103120" cy="1508760"/>
          </a:xfrm>
          <a:prstGeom prst="roundRect">
            <a:avLst>
              <a:gd name="adj" fmla="val 5455"/>
            </a:avLst>
          </a:prstGeom>
          <a:solidFill>
            <a:srgbClr val="E7F4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69480" y="3291840"/>
            <a:ext cx="640080" cy="64008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etiketi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+ hatasız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Deney: kademeli ekleyip ölçtük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100 gerçek cümlelik testte — adım adım daha fazla sentetik.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188720" y="1463040"/>
            <a:ext cx="1048340" cy="420624"/>
          </a:xfrm>
          <a:prstGeom prst="roundRect">
            <a:avLst>
              <a:gd name="adj" fmla="val 13043"/>
            </a:avLst>
          </a:prstGeom>
          <a:solidFill>
            <a:srgbClr val="AEB9C4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4630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manuel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88720" y="2121408"/>
            <a:ext cx="2954414" cy="420624"/>
          </a:xfrm>
          <a:prstGeom prst="roundRect">
            <a:avLst>
              <a:gd name="adj" fmla="val 13043"/>
            </a:avLst>
          </a:prstGeom>
          <a:solidFill>
            <a:srgbClr val="2390B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1214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+ 1.000 sentetik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340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88720" y="2779776"/>
            <a:ext cx="4860487" cy="420624"/>
          </a:xfrm>
          <a:prstGeom prst="roundRect">
            <a:avLst>
              <a:gd name="adj" fmla="val 13043"/>
            </a:avLst>
          </a:prstGeom>
          <a:solidFill>
            <a:srgbClr val="2390B0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7797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+ 2.000 sentetik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924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188720" y="3438144"/>
            <a:ext cx="6766560" cy="420624"/>
          </a:xfrm>
          <a:prstGeom prst="roundRect">
            <a:avLst>
              <a:gd name="adj" fmla="val 13043"/>
            </a:avLst>
          </a:prstGeom>
          <a:solidFill>
            <a:srgbClr val="2390B0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43814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+ 3.000 sentetik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hep aynı, hep gerçek (insan yazımı) cümleler. Böylece sentetik verinin etkisini dürüstçe ölçtük.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Yolculuk · Adım 1: +1.000 sentetik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→ R1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82880" cy="182880"/>
          </a:xfrm>
          <a:prstGeom prst="ellipse">
            <a:avLst/>
          </a:prstGeom>
          <a:solidFill>
            <a:srgbClr val="2390B0"/>
          </a:solidFill>
          <a:ln/>
        </p:spPr>
      </p:sp>
      <p:sp>
        <p:nvSpPr>
          <p:cNvPr id="5" name="Shape 3"/>
          <p:cNvSpPr/>
          <p:nvPr/>
        </p:nvSpPr>
        <p:spPr>
          <a:xfrm>
            <a:off x="7973568" y="457200"/>
            <a:ext cx="182880" cy="182880"/>
          </a:xfrm>
          <a:prstGeom prst="ellipse">
            <a:avLst/>
          </a:prstGeom>
          <a:solidFill>
            <a:srgbClr val="CBD5DD"/>
          </a:solidFill>
          <a:ln/>
        </p:spPr>
      </p:sp>
      <p:sp>
        <p:nvSpPr>
          <p:cNvPr id="6" name="Shape 4"/>
          <p:cNvSpPr/>
          <p:nvPr/>
        </p:nvSpPr>
        <p:spPr>
          <a:xfrm>
            <a:off x="8266176" y="457200"/>
            <a:ext cx="182880" cy="182880"/>
          </a:xfrm>
          <a:prstGeom prst="ellipse">
            <a:avLst/>
          </a:prstGeom>
          <a:solidFill>
            <a:srgbClr val="CBD5D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6304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FAEAE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F644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0,87</a:t>
            </a:r>
            <a:endParaRPr lang="en-US" sz="2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7393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212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+0,24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46520" y="1645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sıçrama!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2788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468880" y="2715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0,87</a:t>
            </a:r>
            <a:endParaRPr lang="en-US" sz="2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82549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788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+0,05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44652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yükseldi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" y="356616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E6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8680" y="3840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390B0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246888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0,58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0,47</a:t>
            </a:r>
            <a:endParaRPr lang="en-US" sz="2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87705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32120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−0,11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446520" y="3749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düştü — ilk uyarı ⚠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kategori uçtu, biri geriledi. İlk çatlak mecazda belirdi.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Yolculuk · Adım 2: +2.000 sentetik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→ R2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82880" cy="182880"/>
          </a:xfrm>
          <a:prstGeom prst="ellipse">
            <a:avLst/>
          </a:prstGeom>
          <a:solidFill>
            <a:srgbClr val="2390B0"/>
          </a:solidFill>
          <a:ln/>
        </p:spPr>
      </p:sp>
      <p:sp>
        <p:nvSpPr>
          <p:cNvPr id="5" name="Shape 3"/>
          <p:cNvSpPr/>
          <p:nvPr/>
        </p:nvSpPr>
        <p:spPr>
          <a:xfrm>
            <a:off x="7973568" y="457200"/>
            <a:ext cx="182880" cy="182880"/>
          </a:xfrm>
          <a:prstGeom prst="ellipse">
            <a:avLst/>
          </a:prstGeom>
          <a:solidFill>
            <a:srgbClr val="2390B0"/>
          </a:solidFill>
          <a:ln/>
        </p:spPr>
      </p:sp>
      <p:sp>
        <p:nvSpPr>
          <p:cNvPr id="6" name="Shape 4"/>
          <p:cNvSpPr/>
          <p:nvPr/>
        </p:nvSpPr>
        <p:spPr>
          <a:xfrm>
            <a:off x="8266176" y="457200"/>
            <a:ext cx="182880" cy="182880"/>
          </a:xfrm>
          <a:prstGeom prst="ellipse">
            <a:avLst/>
          </a:prstGeom>
          <a:solidFill>
            <a:srgbClr val="CBD5D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6304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0,97</a:t>
            </a:r>
            <a:endParaRPr lang="en-US" sz="2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7393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212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46520" y="1645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zirveye çıktı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FAEAE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2788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F6446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Abartı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468880" y="2715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0,87</a:t>
            </a:r>
            <a:endParaRPr lang="en-US" sz="2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82549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788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+0,00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44652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sabitlendi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" y="356616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E6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8680" y="3840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390B0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246888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0,47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0,54</a:t>
            </a:r>
            <a:endParaRPr lang="en-US" sz="2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87705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32120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+0,07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446520" y="3749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biraz toparladı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 doygunluğa ulaştı. Mecaz kıpırdadı ama hâlâ başladığı yerin (0,58) altında.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Yolculuk · Adım 3: +3.000 sentetik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→ R3 (final)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82880" cy="182880"/>
          </a:xfrm>
          <a:prstGeom prst="ellipse">
            <a:avLst/>
          </a:prstGeom>
          <a:solidFill>
            <a:srgbClr val="2390B0"/>
          </a:solidFill>
          <a:ln/>
        </p:spPr>
      </p:sp>
      <p:sp>
        <p:nvSpPr>
          <p:cNvPr id="5" name="Shape 3"/>
          <p:cNvSpPr/>
          <p:nvPr/>
        </p:nvSpPr>
        <p:spPr>
          <a:xfrm>
            <a:off x="7973568" y="457200"/>
            <a:ext cx="182880" cy="182880"/>
          </a:xfrm>
          <a:prstGeom prst="ellipse">
            <a:avLst/>
          </a:prstGeom>
          <a:solidFill>
            <a:srgbClr val="2390B0"/>
          </a:solidFill>
          <a:ln/>
        </p:spPr>
      </p:sp>
      <p:sp>
        <p:nvSpPr>
          <p:cNvPr id="6" name="Shape 4"/>
          <p:cNvSpPr/>
          <p:nvPr/>
        </p:nvSpPr>
        <p:spPr>
          <a:xfrm>
            <a:off x="8266176" y="457200"/>
            <a:ext cx="182880" cy="182880"/>
          </a:xfrm>
          <a:prstGeom prst="ellipse">
            <a:avLst/>
          </a:prstGeom>
          <a:solidFill>
            <a:srgbClr val="2390B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6304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FAEAE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F644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Abartı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0,90</a:t>
            </a:r>
            <a:endParaRPr lang="en-US" sz="2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7393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212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46520" y="1645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0,63 → 0,90 ✓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2788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0930A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468880" y="2715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0,97</a:t>
            </a:r>
            <a:endParaRPr lang="en-US" sz="2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82549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788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+0,00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44652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0,82 → 0,97 ✓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" y="3566160"/>
            <a:ext cx="7863840" cy="914400"/>
          </a:xfrm>
          <a:prstGeom prst="roundRect">
            <a:avLst>
              <a:gd name="adj" fmla="val 9000"/>
            </a:avLst>
          </a:prstGeom>
          <a:solidFill>
            <a:srgbClr val="E6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8680" y="3840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390B0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246888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0,54  </a:t>
            </a:r>
            <a:pPr algn="ctr" indent="0" marL="0">
              <a:buNone/>
            </a:pPr>
            <a:r>
              <a:rPr lang="en-US" sz="2200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0,53</a:t>
            </a:r>
            <a:endParaRPr lang="en-US" sz="2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87705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32120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−0,01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446520" y="3749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0,58 → 0,53 ✗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iki kategori zafer, biri yenilgi. Peki mecaza ne oldu?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Büyük resim: tüm yolculuk tek grafikte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371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7F4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3796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Ortalama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37960" y="18105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0,67 → 0,80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53796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başarı arttı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çizgi yükseliyor…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mavi (mecaz)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düşüyor.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Sürpriz: mecaz bizi neden yarı yolda bıraktı?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modelin eğitim ve test başarısına yan yana bakınca…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6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F1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39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ezberliyor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554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BECE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737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F4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0,53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800600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genelleyemiyor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822192"/>
            <a:ext cx="585216" cy="585216"/>
          </a:xfrm>
          <a:prstGeom prst="ellipse">
            <a:avLst/>
          </a:prstGeom>
          <a:solidFill>
            <a:srgbClr val="DF644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396849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91640" y="3703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öğrenme (overfitting): </a:t>
            </a:r>
            <a:pPr indent="0" marL="0"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sentetik kalıpları ezberledi ama gerçek cümlelere taşıyamadı.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Neden? Kalıp ile bağlam farkı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611880" cy="2468880"/>
          </a:xfrm>
          <a:prstGeom prst="roundRect">
            <a:avLst>
              <a:gd name="adj" fmla="val 3333"/>
            </a:avLst>
          </a:prstGeom>
          <a:solidFill>
            <a:srgbClr val="E7F4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276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 &amp; Abartı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Kalıplaşmış ifadeler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“küplere bindi” hep aynı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≈ gerçek kullanım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sentetik İŞE YARAR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600" y="1417320"/>
            <a:ext cx="3611880" cy="2468880"/>
          </a:xfrm>
          <a:prstGeom prst="roundRect">
            <a:avLst>
              <a:gd name="adj" fmla="val 3333"/>
            </a:avLst>
          </a:prstGeom>
          <a:solidFill>
            <a:srgbClr val="FBECE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6276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2148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Bağlama bağlı, serbest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kelime farklı yerde mecaz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dar bir kalıbı taklit eder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C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sentetik YETERSİZ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 ders: sentetik veri her kategoride işe yaramaz — üretim yöntemi, sanatın dil yapısına uymalı.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Hikâyenin sonu: ne öğrendik?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25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veri genel başarıyı artırdı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08760" y="17190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F1: 0,67 → 0,80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212848"/>
            <a:ext cx="640080" cy="640080"/>
          </a:xfrm>
          <a:prstGeom prst="ellipse">
            <a:avLst/>
          </a:prstGeom>
          <a:solidFill>
            <a:srgbClr val="E0930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37286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1671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Kalıplaşmış sanatlar çok kazandı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08760" y="25603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Deyim 0,82→0,97 · Abartı 0,63→0,90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054096"/>
            <a:ext cx="640080" cy="640080"/>
          </a:xfrm>
          <a:prstGeom prst="ellipse">
            <a:avLst/>
          </a:prstGeom>
          <a:solidFill>
            <a:srgbClr val="DF644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214116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00837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Mecazda sentetik ezbere yol açtı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508760" y="340156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Yöntem, kategorinin dil yapısına uymalı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16395C"/>
          </a:solidFill>
          <a:ln/>
        </p:spPr>
      </p:sp>
      <p:sp>
        <p:nvSpPr>
          <p:cNvPr id="16" name="Text 11"/>
          <p:cNvSpPr/>
          <p:nvPr/>
        </p:nvSpPr>
        <p:spPr>
          <a:xfrm>
            <a:off x="868680" y="41148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mecaz için LLM ile üretim · test setini büyütmek · manuel örneklere daha çok ağırlık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657600" cy="365760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234440"/>
            <a:ext cx="1097280" cy="1097280"/>
          </a:xfrm>
          <a:prstGeom prst="ellipse">
            <a:avLst/>
          </a:prstGeom>
          <a:solidFill>
            <a:srgbClr val="2390B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5087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Enes Çetin  ·  Ahmet Yıldırım   |   Danışman: Dr. Himmet Toprak Kesgin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Türkçe Söz Sanatları Tespiti — Gelişim Hikâyesi</dc:title>
  <dc:subject>PptxGenJS Presentation</dc:subject>
  <dc:creator>Enes Çetin, Ahmet Yıldırım</dc:creator>
  <cp:lastModifiedBy>Enes Çetin, Ahmet Yıldırım</cp:lastModifiedBy>
  <cp:revision>1</cp:revision>
  <dcterms:created xsi:type="dcterms:W3CDTF">2026-06-23T23:17:37Z</dcterms:created>
  <dcterms:modified xsi:type="dcterms:W3CDTF">2026-06-23T23:17:37Z</dcterms:modified>
</cp:coreProperties>
</file>